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65" r:id="rId1"/>
  </p:sldMasterIdLst>
  <p:notesMasterIdLst>
    <p:notesMasterId r:id="rId11"/>
  </p:notesMasterIdLst>
  <p:sldIdLst>
    <p:sldId id="256" r:id="rId2"/>
    <p:sldId id="257" r:id="rId3"/>
    <p:sldId id="259" r:id="rId4"/>
    <p:sldId id="266" r:id="rId5"/>
    <p:sldId id="261" r:id="rId6"/>
    <p:sldId id="262" r:id="rId7"/>
    <p:sldId id="263" r:id="rId8"/>
    <p:sldId id="267" r:id="rId9"/>
    <p:sldId id="265" r:id="rId10"/>
  </p:sldIdLst>
  <p:sldSz cx="14630400" cy="8229600"/>
  <p:notesSz cx="8229600" cy="146304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Inter" panose="020B0604020202020204" charset="0"/>
      <p:regular r:id="rId20"/>
    </p:embeddedFont>
    <p:embeddedFont>
      <p:font typeface="Tw Cen MT" panose="020B0602020104020603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90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588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909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9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1215" y="1560942"/>
            <a:ext cx="10427971" cy="3011056"/>
          </a:xfrm>
        </p:spPr>
        <p:txBody>
          <a:bodyPr anchor="b">
            <a:normAutofit/>
          </a:bodyPr>
          <a:lstStyle>
            <a:lvl1pPr algn="ctr"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01215" y="4663441"/>
            <a:ext cx="10427971" cy="1645919"/>
          </a:xfrm>
        </p:spPr>
        <p:txBody>
          <a:bodyPr>
            <a:normAutofit/>
          </a:bodyPr>
          <a:lstStyle>
            <a:lvl1pPr marL="0" indent="0" algn="ctr">
              <a:buNone/>
              <a:defRPr sz="2640">
                <a:solidFill>
                  <a:schemeClr val="bg1">
                    <a:lumMod val="50000"/>
                  </a:schemeClr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18739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096529" y="2840511"/>
            <a:ext cx="12436591" cy="41089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57147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994276"/>
            <a:ext cx="12422102" cy="3284183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529" y="4388949"/>
            <a:ext cx="12422102" cy="164182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9957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096529" y="2840511"/>
            <a:ext cx="6127231" cy="41089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7406640" y="2840511"/>
            <a:ext cx="6126480" cy="41089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36978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5594" y="2845222"/>
            <a:ext cx="5848169" cy="815993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12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1096530" y="3661215"/>
            <a:ext cx="6127232" cy="32882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75708" y="2845222"/>
            <a:ext cx="5858165" cy="815993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12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7406641" y="3661215"/>
            <a:ext cx="6126481" cy="32882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5985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0245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973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30" y="731520"/>
            <a:ext cx="4722826" cy="2427902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6093675" y="731521"/>
            <a:ext cx="7440196" cy="62179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3159422"/>
            <a:ext cx="4722827" cy="3790018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22974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731520"/>
            <a:ext cx="7121963" cy="2427905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909763" y="731521"/>
            <a:ext cx="3906430" cy="621792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3" y="3159423"/>
            <a:ext cx="7121939" cy="3790016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47100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3" y="5147249"/>
            <a:ext cx="12437318" cy="973932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21693" y="837913"/>
            <a:ext cx="11787038" cy="3856963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6130474"/>
            <a:ext cx="12437342" cy="818966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57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731519"/>
            <a:ext cx="12437342" cy="4112694"/>
          </a:xfrm>
        </p:spPr>
        <p:txBody>
          <a:bodyPr anchor="ctr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30" y="5045785"/>
            <a:ext cx="12437342" cy="1903656"/>
          </a:xfrm>
        </p:spPr>
        <p:txBody>
          <a:bodyPr anchor="ctr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4303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731520"/>
            <a:ext cx="11163302" cy="3591485"/>
          </a:xfrm>
        </p:spPr>
        <p:txBody>
          <a:bodyPr anchor="ctr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064773" y="4332038"/>
            <a:ext cx="10502759" cy="71374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5247356"/>
            <a:ext cx="12437342" cy="17052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201786" y="904999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69070" y="359229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325281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30" y="2566466"/>
            <a:ext cx="12437342" cy="3014202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30" y="5594802"/>
            <a:ext cx="12437342" cy="1368773"/>
          </a:xfrm>
        </p:spPr>
        <p:txBody>
          <a:bodyPr anchor="t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90659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096529" y="731520"/>
            <a:ext cx="12437342" cy="19261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96529" y="2840512"/>
            <a:ext cx="3958771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96529" y="3532027"/>
            <a:ext cx="3958771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42868" y="2840512"/>
            <a:ext cx="3949825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329618" y="3532027"/>
            <a:ext cx="3964021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67957" y="2840512"/>
            <a:ext cx="396591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567957" y="3532027"/>
            <a:ext cx="3965914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15730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096529" y="732927"/>
            <a:ext cx="12437342" cy="19247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096529" y="5045784"/>
            <a:ext cx="3955691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6529" y="2840512"/>
            <a:ext cx="3955691" cy="18288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96529" y="5737298"/>
            <a:ext cx="3955691" cy="1212142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31311" y="5045784"/>
            <a:ext cx="396219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329618" y="2840512"/>
            <a:ext cx="3964022" cy="18288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329618" y="5737297"/>
            <a:ext cx="3964022" cy="1212143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67958" y="5045784"/>
            <a:ext cx="3960817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567957" y="2840512"/>
            <a:ext cx="3965914" cy="18288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567808" y="5737294"/>
            <a:ext cx="3966064" cy="1212145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55430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096530" y="2840512"/>
            <a:ext cx="12437342" cy="410892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90742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731522"/>
            <a:ext cx="3063991" cy="621791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096530" y="731522"/>
            <a:ext cx="9190469" cy="621791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72662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82120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39703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2430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5348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6504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1005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13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4630404" cy="822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530" y="2840512"/>
            <a:ext cx="12437342" cy="4108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14484" y="705993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6530" y="7059931"/>
            <a:ext cx="800746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16814" y="7059931"/>
            <a:ext cx="91705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25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  <p:sldLayoutId id="2147483783" r:id="rId18"/>
    <p:sldLayoutId id="2147483784" r:id="rId19"/>
    <p:sldLayoutId id="2147483785" r:id="rId20"/>
    <p:sldLayoutId id="2147483786" r:id="rId21"/>
    <p:sldLayoutId id="2147483787" r:id="rId22"/>
    <p:sldLayoutId id="2147483788" r:id="rId23"/>
    <p:sldLayoutId id="2147483789" r:id="rId24"/>
  </p:sldLayoutIdLst>
  <p:hf sldNum="0" hdr="0" ftr="0" dt="0"/>
  <p:txStyles>
    <p:titleStyle>
      <a:lvl1pPr algn="ctr" defTabSz="1097280" rtl="0" eaLnBrk="1" latinLnBrk="0" hangingPunct="1">
        <a:lnSpc>
          <a:spcPct val="90000"/>
        </a:lnSpc>
        <a:spcBef>
          <a:spcPct val="0"/>
        </a:spcBef>
        <a:buNone/>
        <a:defRPr sz="432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Clr>
          <a:schemeClr val="tx1"/>
        </a:buClr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216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92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15574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Interactive 2D Scene: Urban</a:t>
            </a:r>
          </a:p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Life day and night simulation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2224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“Urban life with Playground" project. This OpenGL application showcases a dynamic 2D scene featuring a day-night, animated cars, and interactive components.</a:t>
            </a:r>
            <a:endParaRPr lang="en-US" sz="17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7879AA-0C98-4B94-B1F6-5C326C8C6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8233" y="1099671"/>
            <a:ext cx="5404077" cy="539637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1477" y="1434346"/>
            <a:ext cx="13847445" cy="715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800" b="1" u="sng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Introduce With Our Team</a:t>
            </a:r>
            <a:endParaRPr lang="en-US" sz="4800" u="sng" dirty="0"/>
          </a:p>
        </p:txBody>
      </p:sp>
      <p:sp>
        <p:nvSpPr>
          <p:cNvPr id="5" name="Text 1"/>
          <p:cNvSpPr/>
          <p:nvPr/>
        </p:nvSpPr>
        <p:spPr>
          <a:xfrm>
            <a:off x="4507230" y="3406616"/>
            <a:ext cx="3201233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Team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507230" y="3979902"/>
            <a:ext cx="6259354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Md. Mefazur Rahman (0432310005101035)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4507230" y="4416028"/>
            <a:ext cx="6259354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Nazmul Chowdhury (0432310005101044)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507230" y="4852154"/>
            <a:ext cx="6259354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Iqbal Mahmud Emon (0432310005101045)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507230" y="5288280"/>
            <a:ext cx="6259354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Md. Shoyaif Rahman (0432310005101050)</a:t>
            </a:r>
            <a:endParaRPr lang="en-US" sz="175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436" y="819481"/>
            <a:ext cx="98249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Scene Elements: Static Objects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652106" y="43653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Houses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2106" y="4855728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Various residential structures with distinct colors and roof designs.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3983594" y="43653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Modern Buildings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983594" y="4855728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Tall, multi-windowed structures representing an urban skyline.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315200" y="43653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Trees &amp; Bushes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0" y="4855728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 natural elements, adding greenery and depth to the landscape.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646807" y="43653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Benches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646807" y="4855728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Park seating, strategically placed for scene detailing.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590DB2-8AE9-40FF-A6EA-152D84381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4722" y="2716722"/>
            <a:ext cx="2052676" cy="15124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DE6D0D-6E19-4FE4-B9F1-89D9D0EA0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36" y="2716722"/>
            <a:ext cx="1438476" cy="13622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E532A54-1EAC-46BB-9949-2BB072AA6F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7671" y="2142953"/>
            <a:ext cx="1071603" cy="19338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9B6B68B-D3A1-4395-A664-09A92F5466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0419" y="1827441"/>
            <a:ext cx="1747906" cy="22386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436" y="819481"/>
            <a:ext cx="98249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Scene Elements: Static Objects</a:t>
            </a:r>
            <a:endParaRPr lang="en-US" sz="44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AB4263-6C7F-461B-AC99-6BD926ADA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929" y="2847798"/>
            <a:ext cx="3343742" cy="12670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B25D6C7-6895-4D4B-8B65-B235C389B1E0}"/>
              </a:ext>
            </a:extLst>
          </p:cNvPr>
          <p:cNvSpPr/>
          <p:nvPr/>
        </p:nvSpPr>
        <p:spPr>
          <a:xfrm>
            <a:off x="2724670" y="4508707"/>
            <a:ext cx="1042273" cy="4213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750"/>
              </a:lnSpc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Seesaw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7DB651-0370-4A9C-8A9F-46427C3FBA00}"/>
              </a:ext>
            </a:extLst>
          </p:cNvPr>
          <p:cNvSpPr/>
          <p:nvPr/>
        </p:nvSpPr>
        <p:spPr>
          <a:xfrm>
            <a:off x="2724670" y="4894124"/>
            <a:ext cx="3152255" cy="802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Kids are playing with the see saw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913F5DE-B99C-4CF9-B348-79878E56D4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86471" y="2531634"/>
            <a:ext cx="1853004" cy="18993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1AE909B-C21A-419F-9400-CBA895DDA4AF}"/>
              </a:ext>
            </a:extLst>
          </p:cNvPr>
          <p:cNvSpPr/>
          <p:nvPr/>
        </p:nvSpPr>
        <p:spPr>
          <a:xfrm>
            <a:off x="9186471" y="4494877"/>
            <a:ext cx="604653" cy="4213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750"/>
              </a:lnSpc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Sun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28C73F-C62F-47E4-9500-F989B27269BE}"/>
              </a:ext>
            </a:extLst>
          </p:cNvPr>
          <p:cNvSpPr/>
          <p:nvPr/>
        </p:nvSpPr>
        <p:spPr>
          <a:xfrm>
            <a:off x="9186471" y="4783780"/>
            <a:ext cx="1962397" cy="4309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 is in the sky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0410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136" y="553283"/>
            <a:ext cx="7626310" cy="62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Animated Objects &amp; Interaction</a:t>
            </a:r>
            <a:endParaRPr lang="en-US" sz="395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9621" y="5258872"/>
            <a:ext cx="301704" cy="301704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357908" y="5252561"/>
            <a:ext cx="251507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Clouds</a:t>
            </a:r>
            <a:endParaRPr lang="en-US" sz="1950" dirty="0"/>
          </a:p>
        </p:txBody>
      </p:sp>
      <p:sp>
        <p:nvSpPr>
          <p:cNvPr id="9" name="Text 2"/>
          <p:cNvSpPr/>
          <p:nvPr/>
        </p:nvSpPr>
        <p:spPr>
          <a:xfrm>
            <a:off x="1357908" y="5687497"/>
            <a:ext cx="583156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Slowly drift across the sky, creating a sense of natural movement.</a:t>
            </a:r>
            <a:endParaRPr lang="en-US" sz="155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6416" y="5258872"/>
            <a:ext cx="301704" cy="301704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8094702" y="5252561"/>
            <a:ext cx="251507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Birds</a:t>
            </a:r>
            <a:endParaRPr lang="en-US" sz="1950" dirty="0"/>
          </a:p>
        </p:txBody>
      </p:sp>
      <p:sp>
        <p:nvSpPr>
          <p:cNvPr id="12" name="Text 4"/>
          <p:cNvSpPr/>
          <p:nvPr/>
        </p:nvSpPr>
        <p:spPr>
          <a:xfrm>
            <a:off x="8094702" y="5687497"/>
            <a:ext cx="5831562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birds fly across the upper sky, adding life to the scene.</a:t>
            </a:r>
            <a:endParaRPr lang="en-US" sz="155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9621" y="6740009"/>
            <a:ext cx="301704" cy="301704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357908" y="6733699"/>
            <a:ext cx="251507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Cars</a:t>
            </a:r>
            <a:endParaRPr lang="en-US" sz="1950" dirty="0"/>
          </a:p>
        </p:txBody>
      </p:sp>
      <p:sp>
        <p:nvSpPr>
          <p:cNvPr id="15" name="Text 6"/>
          <p:cNvSpPr/>
          <p:nvPr/>
        </p:nvSpPr>
        <p:spPr>
          <a:xfrm>
            <a:off x="1357908" y="7168634"/>
            <a:ext cx="5831562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sports cars move along the road, simulating traffic flow.</a:t>
            </a:r>
            <a:endParaRPr lang="en-US" sz="15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0A8541C-2528-4C98-A817-0EB05640B4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621" y="2468539"/>
            <a:ext cx="3187750" cy="19324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21B001B-EF5A-4742-81DE-9E449482E1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7060" y="2417675"/>
            <a:ext cx="3530753" cy="19324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FB698B2-F48C-4C1A-8CF7-0A7F3A4EAD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8845" y="2468539"/>
            <a:ext cx="3360540" cy="18307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10745" y="438147"/>
            <a:ext cx="3651052" cy="45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Day-Night Cycle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2720047" y="7036792"/>
            <a:ext cx="1805226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Daytime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9666979" y="7036791"/>
            <a:ext cx="1805226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Night-time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13F3D4-D6FD-4D1E-812C-419080B06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04" y="1541500"/>
            <a:ext cx="5152430" cy="51465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D21D08-EFF7-4B84-8978-97C63DB49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6266" y="1477369"/>
            <a:ext cx="5274859" cy="52748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861" y="757118"/>
            <a:ext cx="6152793" cy="537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OpenGL Functions Used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601861" y="1638419"/>
            <a:ext cx="13426678" cy="5833943"/>
          </a:xfrm>
          <a:prstGeom prst="roundRect">
            <a:avLst>
              <a:gd name="adj" fmla="val 12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481" y="1646039"/>
            <a:ext cx="6705719" cy="998577"/>
          </a:xfrm>
          <a:prstGeom prst="roundRect">
            <a:avLst>
              <a:gd name="adj" fmla="val 7234"/>
            </a:avLst>
          </a:prstGeom>
          <a:solidFill>
            <a:srgbClr val="DADBF1"/>
          </a:solidFill>
          <a:ln/>
        </p:spPr>
      </p:sp>
      <p:sp>
        <p:nvSpPr>
          <p:cNvPr id="5" name="Text 3"/>
          <p:cNvSpPr/>
          <p:nvPr/>
        </p:nvSpPr>
        <p:spPr>
          <a:xfrm>
            <a:off x="781407" y="1817965"/>
            <a:ext cx="2149793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glutInit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81407" y="2197418"/>
            <a:ext cx="6361867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Initializes the GLUT library, essential for window and event management.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0" y="1646039"/>
            <a:ext cx="6705719" cy="99857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1646039"/>
            <a:ext cx="22860" cy="998577"/>
          </a:xfrm>
          <a:prstGeom prst="roundRect">
            <a:avLst>
              <a:gd name="adj" fmla="val 315985"/>
            </a:avLst>
          </a:prstGeom>
          <a:solidFill>
            <a:srgbClr val="C0C1D7"/>
          </a:solidFill>
          <a:ln/>
        </p:spPr>
      </p:sp>
      <p:sp>
        <p:nvSpPr>
          <p:cNvPr id="9" name="Text 7"/>
          <p:cNvSpPr/>
          <p:nvPr/>
        </p:nvSpPr>
        <p:spPr>
          <a:xfrm>
            <a:off x="7487126" y="1817965"/>
            <a:ext cx="2149793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glClearColor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487126" y="2197418"/>
            <a:ext cx="6361867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Sets the background color, allowing dynamic sky changes for day/night.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9481" y="2644616"/>
            <a:ext cx="6705719" cy="1273850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481" y="2644616"/>
            <a:ext cx="6705719" cy="22860"/>
          </a:xfrm>
          <a:prstGeom prst="roundRect">
            <a:avLst>
              <a:gd name="adj" fmla="val 315985"/>
            </a:avLst>
          </a:prstGeom>
          <a:solidFill>
            <a:srgbClr val="C0C1D7"/>
          </a:solidFill>
          <a:ln/>
        </p:spPr>
      </p:sp>
      <p:sp>
        <p:nvSpPr>
          <p:cNvPr id="13" name="Text 11"/>
          <p:cNvSpPr/>
          <p:nvPr/>
        </p:nvSpPr>
        <p:spPr>
          <a:xfrm>
            <a:off x="781407" y="2816543"/>
            <a:ext cx="2149793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glMatrixMode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81407" y="3195995"/>
            <a:ext cx="6361867" cy="55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Specifies the current matrix, typically </a:t>
            </a:r>
            <a:r>
              <a:rPr lang="en-US" sz="13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GL_PROJECTION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setting up the viewing volume.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0" y="2644616"/>
            <a:ext cx="6705719" cy="1273850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0" y="2644616"/>
            <a:ext cx="22860" cy="1273850"/>
          </a:xfrm>
          <a:prstGeom prst="roundRect">
            <a:avLst>
              <a:gd name="adj" fmla="val 315985"/>
            </a:avLst>
          </a:prstGeom>
          <a:solidFill>
            <a:srgbClr val="C0C1D7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2644616"/>
            <a:ext cx="6705719" cy="22860"/>
          </a:xfrm>
          <a:prstGeom prst="roundRect">
            <a:avLst>
              <a:gd name="adj" fmla="val 315985"/>
            </a:avLst>
          </a:prstGeom>
          <a:solidFill>
            <a:srgbClr val="C0C1D7"/>
          </a:solidFill>
          <a:ln/>
        </p:spPr>
      </p:sp>
      <p:sp>
        <p:nvSpPr>
          <p:cNvPr id="18" name="Text 16"/>
          <p:cNvSpPr/>
          <p:nvPr/>
        </p:nvSpPr>
        <p:spPr>
          <a:xfrm>
            <a:off x="7487126" y="2816543"/>
            <a:ext cx="2149793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glOrtho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487126" y="3195995"/>
            <a:ext cx="6361867" cy="55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Defines a 2D orthographic projection matrix, mapping world coordinates to screen space.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09481" y="3918466"/>
            <a:ext cx="6705719" cy="1273850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481" y="3918466"/>
            <a:ext cx="6705719" cy="22860"/>
          </a:xfrm>
          <a:prstGeom prst="roundRect">
            <a:avLst>
              <a:gd name="adj" fmla="val 315985"/>
            </a:avLst>
          </a:prstGeom>
          <a:solidFill>
            <a:srgbClr val="C0C1D7"/>
          </a:solidFill>
          <a:ln/>
        </p:spPr>
      </p:sp>
      <p:sp>
        <p:nvSpPr>
          <p:cNvPr id="22" name="Text 20"/>
          <p:cNvSpPr/>
          <p:nvPr/>
        </p:nvSpPr>
        <p:spPr>
          <a:xfrm>
            <a:off x="781407" y="4090392"/>
            <a:ext cx="2149793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glBegin/glEnd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81407" y="4469844"/>
            <a:ext cx="6361867" cy="55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Delimits the vertices of a primitive, like </a:t>
            </a:r>
            <a:r>
              <a:rPr lang="en-US" sz="13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GL_QUADS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rectangles or </a:t>
            </a:r>
            <a:r>
              <a:rPr lang="en-US" sz="13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GL_POLYGON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complex shapes.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315200" y="3918466"/>
            <a:ext cx="6705719" cy="1273850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0" y="3918466"/>
            <a:ext cx="22860" cy="1273850"/>
          </a:xfrm>
          <a:prstGeom prst="roundRect">
            <a:avLst>
              <a:gd name="adj" fmla="val 315985"/>
            </a:avLst>
          </a:prstGeom>
          <a:solidFill>
            <a:srgbClr val="C0C1D7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0" y="3918466"/>
            <a:ext cx="6705719" cy="22860"/>
          </a:xfrm>
          <a:prstGeom prst="roundRect">
            <a:avLst>
              <a:gd name="adj" fmla="val 315985"/>
            </a:avLst>
          </a:prstGeom>
          <a:solidFill>
            <a:srgbClr val="C0C1D7"/>
          </a:solidFill>
          <a:ln/>
        </p:spPr>
      </p:sp>
      <p:sp>
        <p:nvSpPr>
          <p:cNvPr id="27" name="Text 25"/>
          <p:cNvSpPr/>
          <p:nvPr/>
        </p:nvSpPr>
        <p:spPr>
          <a:xfrm>
            <a:off x="7487126" y="4090392"/>
            <a:ext cx="2149793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glVertex2f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487126" y="4469844"/>
            <a:ext cx="6361867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Specifies a vertex in 2D space, defining the points of all drawn objects.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09481" y="5192316"/>
            <a:ext cx="6705719" cy="1273850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481" y="5192316"/>
            <a:ext cx="6705719" cy="22860"/>
          </a:xfrm>
          <a:prstGeom prst="roundRect">
            <a:avLst>
              <a:gd name="adj" fmla="val 315985"/>
            </a:avLst>
          </a:prstGeom>
          <a:solidFill>
            <a:srgbClr val="C0C1D7"/>
          </a:solidFill>
          <a:ln/>
        </p:spPr>
      </p:sp>
      <p:sp>
        <p:nvSpPr>
          <p:cNvPr id="31" name="Text 29"/>
          <p:cNvSpPr/>
          <p:nvPr/>
        </p:nvSpPr>
        <p:spPr>
          <a:xfrm>
            <a:off x="781407" y="5364242"/>
            <a:ext cx="2149793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glColor3f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81407" y="5743694"/>
            <a:ext cx="6361867" cy="55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Sets the current drawing color using RGB float values, applied to subsequent primitives.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315200" y="5192316"/>
            <a:ext cx="6705719" cy="1273850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34" name="Shape 32"/>
          <p:cNvSpPr/>
          <p:nvPr/>
        </p:nvSpPr>
        <p:spPr>
          <a:xfrm>
            <a:off x="7315200" y="5192316"/>
            <a:ext cx="22860" cy="1273850"/>
          </a:xfrm>
          <a:prstGeom prst="roundRect">
            <a:avLst>
              <a:gd name="adj" fmla="val 315985"/>
            </a:avLst>
          </a:prstGeom>
          <a:solidFill>
            <a:srgbClr val="C0C1D7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0" y="5192316"/>
            <a:ext cx="6705719" cy="22860"/>
          </a:xfrm>
          <a:prstGeom prst="roundRect">
            <a:avLst>
              <a:gd name="adj" fmla="val 315985"/>
            </a:avLst>
          </a:prstGeom>
          <a:solidFill>
            <a:srgbClr val="C0C1D7"/>
          </a:solidFill>
          <a:ln/>
        </p:spPr>
      </p:sp>
      <p:sp>
        <p:nvSpPr>
          <p:cNvPr id="36" name="Text 34"/>
          <p:cNvSpPr/>
          <p:nvPr/>
        </p:nvSpPr>
        <p:spPr>
          <a:xfrm>
            <a:off x="7487126" y="5364242"/>
            <a:ext cx="2149793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glutDisplayFunc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7487126" y="5743694"/>
            <a:ext cx="6361867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Registers the callback function that renders the scene.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09481" y="6466165"/>
            <a:ext cx="6705719" cy="99857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39" name="Shape 37"/>
          <p:cNvSpPr/>
          <p:nvPr/>
        </p:nvSpPr>
        <p:spPr>
          <a:xfrm>
            <a:off x="609481" y="6466165"/>
            <a:ext cx="6705719" cy="22860"/>
          </a:xfrm>
          <a:prstGeom prst="roundRect">
            <a:avLst>
              <a:gd name="adj" fmla="val 315985"/>
            </a:avLst>
          </a:prstGeom>
          <a:solidFill>
            <a:srgbClr val="C0C1D7"/>
          </a:solidFill>
          <a:ln/>
        </p:spPr>
      </p:sp>
      <p:sp>
        <p:nvSpPr>
          <p:cNvPr id="40" name="Text 38"/>
          <p:cNvSpPr/>
          <p:nvPr/>
        </p:nvSpPr>
        <p:spPr>
          <a:xfrm>
            <a:off x="781407" y="6638092"/>
            <a:ext cx="2149793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glutKeyboardFunc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781407" y="7017544"/>
            <a:ext cx="6361867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Registers the callback for keyboard events, used here to toggle day/night.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7315200" y="6466165"/>
            <a:ext cx="6705719" cy="99857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43" name="Shape 41"/>
          <p:cNvSpPr/>
          <p:nvPr/>
        </p:nvSpPr>
        <p:spPr>
          <a:xfrm>
            <a:off x="7315200" y="6466165"/>
            <a:ext cx="22860" cy="998577"/>
          </a:xfrm>
          <a:prstGeom prst="roundRect">
            <a:avLst>
              <a:gd name="adj" fmla="val 315985"/>
            </a:avLst>
          </a:prstGeom>
          <a:solidFill>
            <a:srgbClr val="C0C1D7"/>
          </a:solidFill>
          <a:ln/>
        </p:spPr>
      </p:sp>
      <p:sp>
        <p:nvSpPr>
          <p:cNvPr id="44" name="Shape 42"/>
          <p:cNvSpPr/>
          <p:nvPr/>
        </p:nvSpPr>
        <p:spPr>
          <a:xfrm>
            <a:off x="7315200" y="6466165"/>
            <a:ext cx="6705719" cy="22860"/>
          </a:xfrm>
          <a:prstGeom prst="roundRect">
            <a:avLst>
              <a:gd name="adj" fmla="val 315985"/>
            </a:avLst>
          </a:prstGeom>
          <a:solidFill>
            <a:srgbClr val="C0C1D7"/>
          </a:solidFill>
          <a:ln/>
        </p:spPr>
      </p:sp>
      <p:sp>
        <p:nvSpPr>
          <p:cNvPr id="45" name="Text 43"/>
          <p:cNvSpPr/>
          <p:nvPr/>
        </p:nvSpPr>
        <p:spPr>
          <a:xfrm>
            <a:off x="7487126" y="6638092"/>
            <a:ext cx="2149793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glutTimerFunc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7487126" y="7017544"/>
            <a:ext cx="6361867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Schedules a timer callback for animation updates, ensuring smooth motion.</a:t>
            </a:r>
            <a:endParaRPr lang="en-US" sz="135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40924F3C-B9EC-4F96-8FF9-4E031E8859DE}"/>
              </a:ext>
            </a:extLst>
          </p:cNvPr>
          <p:cNvSpPr/>
          <p:nvPr/>
        </p:nvSpPr>
        <p:spPr>
          <a:xfrm>
            <a:off x="-1571625" y="-719257"/>
            <a:ext cx="4371975" cy="541031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4145161" y="2869703"/>
            <a:ext cx="6152793" cy="537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we face</a:t>
            </a:r>
            <a:endParaRPr lang="en-US" sz="335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7C11A90-58F0-43B7-82EB-8317819A546C}"/>
              </a:ext>
            </a:extLst>
          </p:cNvPr>
          <p:cNvSpPr/>
          <p:nvPr/>
        </p:nvSpPr>
        <p:spPr>
          <a:xfrm>
            <a:off x="12811125" y="7791450"/>
            <a:ext cx="1819275" cy="314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1AE9E9-ECE4-4094-9B04-09AB57B33C52}"/>
              </a:ext>
            </a:extLst>
          </p:cNvPr>
          <p:cNvSpPr txBox="1"/>
          <p:nvPr/>
        </p:nvSpPr>
        <p:spPr>
          <a:xfrm>
            <a:off x="4295775" y="3724215"/>
            <a:ext cx="11182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Smooth animation of cars, pedestrians, birds, and clouds.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Managing object positions, speeds, and interactions.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Designing visually appealing day/night scenes.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Ensuring performance and proper rendering.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9613F0D-7D8F-4A91-BF77-1CB1DA642CA5}"/>
              </a:ext>
            </a:extLst>
          </p:cNvPr>
          <p:cNvSpPr/>
          <p:nvPr/>
        </p:nvSpPr>
        <p:spPr>
          <a:xfrm>
            <a:off x="11277600" y="4924544"/>
            <a:ext cx="4457700" cy="3857625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23F6BC7-A9ED-4AF5-95B6-F731BEC8C34A}"/>
              </a:ext>
            </a:extLst>
          </p:cNvPr>
          <p:cNvSpPr/>
          <p:nvPr/>
        </p:nvSpPr>
        <p:spPr>
          <a:xfrm>
            <a:off x="10791825" y="-495211"/>
            <a:ext cx="4457700" cy="3857625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38134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649135" y="1989534"/>
            <a:ext cx="7674531" cy="1312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Enhancements</a:t>
            </a:r>
            <a:endParaRPr lang="en-US" sz="4100" dirty="0"/>
          </a:p>
        </p:txBody>
      </p:sp>
      <p:sp>
        <p:nvSpPr>
          <p:cNvPr id="6" name="Text 3"/>
          <p:cNvSpPr/>
          <p:nvPr/>
        </p:nvSpPr>
        <p:spPr>
          <a:xfrm>
            <a:off x="2039660" y="3301603"/>
            <a:ext cx="7674531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Complex Interactions: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 car braking for pedestrians.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2039660" y="3710821"/>
            <a:ext cx="7674531" cy="67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Sound Effects: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Add ambient sounds for cars, birds, and playground activities.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039660" y="4455795"/>
            <a:ext cx="7674531" cy="67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Lighting: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Introduce directional lighting for more realistic day/night transitions.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2039660" y="5200769"/>
            <a:ext cx="7674531" cy="67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User-Controlled Camera: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Allow zooming and panning for different perspectives.</a:t>
            </a:r>
            <a:endParaRPr lang="en-US" sz="16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4D51133-79AC-4507-8ACE-1F02D271A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716" y="294442"/>
            <a:ext cx="3944946" cy="360710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F52324-4ACD-4A80-8E62-4A7073395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1031" y="4205860"/>
            <a:ext cx="3944946" cy="372929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4" name="Text 3">
            <a:extLst>
              <a:ext uri="{FF2B5EF4-FFF2-40B4-BE49-F238E27FC236}">
                <a16:creationId xmlns:a16="http://schemas.microsoft.com/office/drawing/2014/main" id="{770F784A-A39B-4D53-AF66-7C8A9D4E591F}"/>
              </a:ext>
            </a:extLst>
          </p:cNvPr>
          <p:cNvSpPr/>
          <p:nvPr/>
        </p:nvSpPr>
        <p:spPr>
          <a:xfrm>
            <a:off x="2039660" y="2892385"/>
            <a:ext cx="7674531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Complex Interactions: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pedestrians crossing the road.</a:t>
            </a:r>
            <a:endParaRPr lang="en-US" sz="165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186</TotalTime>
  <Words>459</Words>
  <Application>Microsoft Office PowerPoint</Application>
  <PresentationFormat>Custom</PresentationFormat>
  <Paragraphs>74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Tw Cen MT</vt:lpstr>
      <vt:lpstr>Arial</vt:lpstr>
      <vt:lpstr>Calibri</vt:lpstr>
      <vt:lpstr>Inter Bold</vt:lpstr>
      <vt:lpstr>Consolas</vt:lpstr>
      <vt:lpstr>Inter</vt:lpstr>
      <vt:lpstr>Courier New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lastModifiedBy>USER</cp:lastModifiedBy>
  <cp:revision>15</cp:revision>
  <dcterms:created xsi:type="dcterms:W3CDTF">2025-11-15T17:26:20Z</dcterms:created>
  <dcterms:modified xsi:type="dcterms:W3CDTF">2025-11-15T20:33:09Z</dcterms:modified>
</cp:coreProperties>
</file>